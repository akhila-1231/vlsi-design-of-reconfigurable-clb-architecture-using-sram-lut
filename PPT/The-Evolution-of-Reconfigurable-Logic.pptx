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Instrument Sans Medium"/>
      <p:regular r:id="rId15"/>
    </p:embeddedFont>
    <p:embeddedFont>
      <p:font typeface="Instrument Sans Medium"/>
      <p:regular r:id="rId16"/>
    </p:embeddedFont>
    <p:embeddedFont>
      <p:font typeface="Instrument Sans Medium"/>
      <p:regular r:id="rId17"/>
    </p:embeddedFont>
    <p:embeddedFont>
      <p:font typeface="Instrument Sans Medium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3434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Evolution of Reconfigurable Logic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Designing Advanced CLB Architectures with SRAM-LUTs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3434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65972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Foundation: From Basic Logic to FPGAs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6280190" y="241744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sp>
        <p:nvSpPr>
          <p:cNvPr id="6" name="Text 3"/>
          <p:cNvSpPr/>
          <p:nvPr/>
        </p:nvSpPr>
        <p:spPr>
          <a:xfrm>
            <a:off x="6365260" y="245995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7017306" y="24953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Fixed-Function Era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017306" y="2985730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digital systems relied entirely on fixed-function integrated circuits — inflexible and costly to redesign.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280190" y="416516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sp>
        <p:nvSpPr>
          <p:cNvPr id="10" name="Text 7"/>
          <p:cNvSpPr/>
          <p:nvPr/>
        </p:nvSpPr>
        <p:spPr>
          <a:xfrm>
            <a:off x="6365260" y="420766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7017306" y="42430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FPGA Revolution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4733449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Xilinx's invention of FPGAs in the 1980s transformed digital design, introducing programmable hardware at scale.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591288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sp>
        <p:nvSpPr>
          <p:cNvPr id="14" name="Text 11"/>
          <p:cNvSpPr/>
          <p:nvPr/>
        </p:nvSpPr>
        <p:spPr>
          <a:xfrm>
            <a:off x="6365260" y="595538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7017306" y="5990749"/>
            <a:ext cx="28513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Programmable Fabric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017306" y="6481167"/>
            <a:ext cx="681930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FPGAs combine programmable logic blocks (CLBs) and interconnects, enabling fully custom hardware implementations.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898" y="658654"/>
            <a:ext cx="12270462" cy="62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Core of Reconfigurability: Look-Up Tables (LUTs)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898" y="1755100"/>
            <a:ext cx="8422958" cy="56152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25013" y="2594491"/>
            <a:ext cx="251400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is a LUT?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625013" y="3087053"/>
            <a:ext cx="4308991" cy="1213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LUTs are the fundamental building blocks within CLBs. A </a:t>
            </a:r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k-input LUT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functions as a 2k-to-1 multiplexer, capable of implementing </a:t>
            </a:r>
            <a:pPr algn="l" indent="0" marL="0">
              <a:lnSpc>
                <a:spcPts val="2350"/>
              </a:lnSpc>
              <a:buNone/>
            </a:pPr>
            <a:r>
              <a:rPr lang="en-US" sz="1550" i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Boolean function of k variables.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9625013" y="4501634"/>
            <a:ext cx="4308991" cy="2006917"/>
          </a:xfrm>
          <a:prstGeom prst="roundRect">
            <a:avLst>
              <a:gd name="adj" fmla="val 1503"/>
            </a:avLst>
          </a:prstGeom>
          <a:solidFill>
            <a:srgbClr val="4A030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109" y="4797981"/>
            <a:ext cx="251341" cy="2010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78547" y="4730115"/>
            <a:ext cx="3454360" cy="151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SRAM cells store the configuration bits for each LUT — this is what makes them </a:t>
            </a:r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"SRAM-based"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Programming the SRAM defines the logic function at runtime.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60934"/>
            <a:ext cx="117278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Optimising the CLB: The Quest for Efficiency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23342"/>
            <a:ext cx="4196358" cy="3545324"/>
          </a:xfrm>
          <a:prstGeom prst="roundRect">
            <a:avLst>
              <a:gd name="adj" fmla="val 4127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923342"/>
            <a:ext cx="121920" cy="3545324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1806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671054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Reducing configuration memory footprint and power consumption without sacrificing logic density or performance.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923342"/>
            <a:ext cx="4196358" cy="3545324"/>
          </a:xfrm>
          <a:prstGeom prst="roundRect">
            <a:avLst>
              <a:gd name="adj" fmla="val 4127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2923342"/>
            <a:ext cx="121920" cy="3545324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1806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SRAM Table Sharing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3671054"/>
            <a:ext cx="35903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Negation-Permutation-Negation (NPN) classification enables LUT configuration memory to be shared, achieving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to 30% reduction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memory usage.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(Hussain et al., 2022)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923342"/>
            <a:ext cx="4196358" cy="3545324"/>
          </a:xfrm>
          <a:prstGeom prst="roundRect">
            <a:avLst>
              <a:gd name="adj" fmla="val 4127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2923342"/>
            <a:ext cx="121920" cy="3545324"/>
          </a:xfrm>
          <a:prstGeom prst="roundRect">
            <a:avLst>
              <a:gd name="adj" fmla="val 27907"/>
            </a:avLst>
          </a:prstGeom>
          <a:solidFill>
            <a:srgbClr val="FDC4C4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180636"/>
            <a:ext cx="28478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Tunable LUTs (TLUTs)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3671054"/>
            <a:ext cx="359033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TLUT circuits deliver improved memory efficiency and significantly faster reconfiguration, particularly for regularly structured and repetitive designs.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(Al Farisi et al.)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9664" y="1586389"/>
            <a:ext cx="4051935" cy="224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Enhancing Robustness: Fault-Tolerant CLB Designs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119664" y="3973116"/>
            <a:ext cx="4051935" cy="1029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FPGAs enter advanced computing paradigms — including optical and quantum systems — reliable operation becomes non-negotiable.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7369" y="653653"/>
            <a:ext cx="7900749" cy="526708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19664" y="6240542"/>
            <a:ext cx="6124337" cy="1496735"/>
          </a:xfrm>
          <a:prstGeom prst="roundRect">
            <a:avLst>
              <a:gd name="adj" fmla="val 1800"/>
            </a:avLst>
          </a:prstGeom>
          <a:solidFill>
            <a:srgbClr val="434348"/>
          </a:solidFill>
          <a:ln/>
        </p:spPr>
      </p:sp>
      <p:sp>
        <p:nvSpPr>
          <p:cNvPr id="6" name="Text 3"/>
          <p:cNvSpPr/>
          <p:nvPr/>
        </p:nvSpPr>
        <p:spPr>
          <a:xfrm>
            <a:off x="1299210" y="6420088"/>
            <a:ext cx="2244685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Approach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299210" y="6785848"/>
            <a:ext cx="5765244" cy="514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Integrating fault-tolerant (FT) reversible logic gates (RLG) directly into CLB architecture.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86161" y="6240542"/>
            <a:ext cx="6124456" cy="1496735"/>
          </a:xfrm>
          <a:prstGeom prst="roundRect">
            <a:avLst>
              <a:gd name="adj" fmla="val 1800"/>
            </a:avLst>
          </a:prstGeom>
          <a:solidFill>
            <a:srgbClr val="434348"/>
          </a:solidFill>
          <a:ln/>
        </p:spPr>
      </p:sp>
      <p:sp>
        <p:nvSpPr>
          <p:cNvPr id="9" name="Text 6"/>
          <p:cNvSpPr/>
          <p:nvPr/>
        </p:nvSpPr>
        <p:spPr>
          <a:xfrm>
            <a:off x="7565708" y="6420088"/>
            <a:ext cx="2244685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Benefit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65708" y="6785848"/>
            <a:ext cx="5765363" cy="771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FT-RLGs detect circuit-level faults and maintain compatibility with emerging quantum and optical computing platforms. </a:t>
            </a:r>
            <a:pPr algn="l"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(Naveen K. B. &amp; Ravi L. S., 2024)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3434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1750" y="146566"/>
            <a:ext cx="5290899" cy="79363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4728" y="878443"/>
            <a:ext cx="5850731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Power of Reversibility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684728" y="1742956"/>
            <a:ext cx="7774543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Integrating reversible fault-tolerant gates into CLB designs delivers remarkable efficiency gains at the silicon level.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4728" y="2613422"/>
            <a:ext cx="3781782" cy="645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50"/>
              </a:lnSpc>
              <a:buNone/>
            </a:pPr>
            <a:r>
              <a:rPr lang="en-US" sz="5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95.5%</a:t>
            </a:r>
            <a:endParaRPr lang="en-US" sz="5050" dirty="0"/>
          </a:p>
        </p:txBody>
      </p:sp>
      <p:sp>
        <p:nvSpPr>
          <p:cNvPr id="7" name="Text 4"/>
          <p:cNvSpPr/>
          <p:nvPr/>
        </p:nvSpPr>
        <p:spPr>
          <a:xfrm>
            <a:off x="1352669" y="3483412"/>
            <a:ext cx="2445782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Power Reduction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84728" y="3890248"/>
            <a:ext cx="3781782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Achieved at 90nm CLB technology using reversible FT gates. </a:t>
            </a:r>
            <a:pPr algn="ctr" indent="0" marL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(Naveen K. B. &amp; Ravi L. S., 2024)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77489" y="2613422"/>
            <a:ext cx="3781782" cy="645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50"/>
              </a:lnSpc>
              <a:buNone/>
            </a:pPr>
            <a:r>
              <a:rPr lang="en-US" sz="5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↓</a:t>
            </a:r>
            <a:endParaRPr lang="en-US" sz="5050" dirty="0"/>
          </a:p>
        </p:txBody>
      </p:sp>
      <p:sp>
        <p:nvSpPr>
          <p:cNvPr id="10" name="Text 7"/>
          <p:cNvSpPr/>
          <p:nvPr/>
        </p:nvSpPr>
        <p:spPr>
          <a:xfrm>
            <a:off x="5345430" y="3483412"/>
            <a:ext cx="2445782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Lower Delay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677489" y="3890248"/>
            <a:ext cx="3781782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Reversible gate integration also contributes to significantly reduced propagation delay across the CLB.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681049" y="5199936"/>
            <a:ext cx="3781782" cy="645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50"/>
              </a:lnSpc>
              <a:buNone/>
            </a:pPr>
            <a:r>
              <a:rPr lang="en-US" sz="5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90nm</a:t>
            </a:r>
            <a:endParaRPr lang="en-US" sz="5050" dirty="0"/>
          </a:p>
        </p:txBody>
      </p:sp>
      <p:sp>
        <p:nvSpPr>
          <p:cNvPr id="13" name="Text 10"/>
          <p:cNvSpPr/>
          <p:nvPr/>
        </p:nvSpPr>
        <p:spPr>
          <a:xfrm>
            <a:off x="3348990" y="6069925"/>
            <a:ext cx="2445782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Technology Node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681049" y="6476762"/>
            <a:ext cx="3781782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validated at this process node, with further gains expected at finer geometries.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633770"/>
            <a:ext cx="10756940" cy="699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Modern CLB Architectures: Xilinx 7 Series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955" y="2307431"/>
            <a:ext cx="8300799" cy="37353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68546" y="2463819"/>
            <a:ext cx="1452635" cy="224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Early CLB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68546" y="2752151"/>
            <a:ext cx="1452635" cy="35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4-input LUTs per CLB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7976" y="3480215"/>
            <a:ext cx="321755" cy="3217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4293" y="5265330"/>
            <a:ext cx="1460617" cy="224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Intermediate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204293" y="5553662"/>
            <a:ext cx="1460617" cy="35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Increased routing and registers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3724" y="4653497"/>
            <a:ext cx="321755" cy="3217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84171" y="2435884"/>
            <a:ext cx="1452636" cy="224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Xilinx 7 Series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984171" y="2724216"/>
            <a:ext cx="1452636" cy="35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6-input LUT6s and eight regs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77546" y="3448289"/>
            <a:ext cx="321754" cy="32175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82955" y="6290905"/>
            <a:ext cx="8300799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progression from basic 4-LUTs to the flexible 6-input LUT6 marks a significant leap in logic density and capability.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9637157" y="1884402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Slice Types</a:t>
            </a:r>
            <a:endParaRPr lang="en-US" sz="2200" dirty="0"/>
          </a:p>
        </p:txBody>
      </p:sp>
      <p:sp>
        <p:nvSpPr>
          <p:cNvPr id="15" name="Shape 9"/>
          <p:cNvSpPr/>
          <p:nvPr/>
        </p:nvSpPr>
        <p:spPr>
          <a:xfrm>
            <a:off x="9637157" y="2482096"/>
            <a:ext cx="4217789" cy="2144792"/>
          </a:xfrm>
          <a:prstGeom prst="roundRect">
            <a:avLst>
              <a:gd name="adj" fmla="val 1565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9891355" y="2736294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SLICEL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9891355" y="3306485"/>
            <a:ext cx="3709392" cy="106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Logic-only slices — optimised for pure combinational and registered logic functions.</a:t>
            </a:r>
            <a:endParaRPr lang="en-US" sz="1750" dirty="0"/>
          </a:p>
        </p:txBody>
      </p:sp>
      <p:sp>
        <p:nvSpPr>
          <p:cNvPr id="18" name="Shape 12"/>
          <p:cNvSpPr/>
          <p:nvPr/>
        </p:nvSpPr>
        <p:spPr>
          <a:xfrm>
            <a:off x="9637157" y="4847511"/>
            <a:ext cx="4217789" cy="2500193"/>
          </a:xfrm>
          <a:prstGeom prst="roundRect">
            <a:avLst>
              <a:gd name="adj" fmla="val 1342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9891355" y="5101709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SLICEM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9891355" y="5671899"/>
            <a:ext cx="3709392" cy="1421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Extended slices supporting logic, shift registers, and distributed memory — offering maximum flexibility. </a:t>
            </a:r>
            <a:pPr algn="l" indent="0" marL="0">
              <a:lnSpc>
                <a:spcPts val="2750"/>
              </a:lnSpc>
              <a:buNone/>
            </a:pPr>
            <a:r>
              <a:rPr lang="en-US" sz="1750" i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(Xilinx, WP405)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3434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56" y="153233"/>
            <a:ext cx="5282089" cy="7923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01489" y="874752"/>
            <a:ext cx="7713821" cy="1276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Future of Reconfigurable Logic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201489" y="2427565"/>
            <a:ext cx="7713821" cy="62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CLB designs with SRAM-LUTs are the cornerstone of next-generation FPGA development.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1489" y="3255764"/>
            <a:ext cx="408623" cy="4086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40141" y="3325892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Memory Efficiency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840141" y="3755469"/>
            <a:ext cx="7075170" cy="62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Innovations in SRAM sharing and TLUT circuits continue to reduce overhead, enabling denser, more capable logic fabrics.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1489" y="4744760"/>
            <a:ext cx="408623" cy="4086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40141" y="4814888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Fault Tolerance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6840141" y="5244465"/>
            <a:ext cx="7075170" cy="62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Reversible gate integration is paving the way for reliable FPGAs in mission-critical and quantum-compatible applications.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01489" y="6233755"/>
            <a:ext cx="408623" cy="4086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40141" y="6303883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Broader Applications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6840141" y="6733461"/>
            <a:ext cx="7075170" cy="62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advances collectively enable more complex, robust digital systems across industries from aerospace to AI acceleration.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2026-04-09T05:44:18Z</dcterms:created>
  <dcterms:modified xsi:type="dcterms:W3CDTF">2026-04-09T05:44:18Z</dcterms:modified>
</cp:coreProperties>
</file>